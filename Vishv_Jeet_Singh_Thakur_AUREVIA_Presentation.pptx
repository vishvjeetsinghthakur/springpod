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Barlow" panose="00000500000000000000" pitchFamily="2" charset="0"/>
      <p:regular r:id="rId17"/>
    </p:embeddedFont>
    <p:embeddedFont>
      <p:font typeface="Barlow Bold" panose="020B0604020202020204" charset="0"/>
      <p:regular r:id="rId18"/>
    </p:embeddedFont>
    <p:embeddedFont>
      <p:font typeface="Cambria" panose="02040503050406030204" pitchFamily="18" charset="0"/>
      <p:regular r:id="rId19"/>
      <p:bold r:id="rId20"/>
      <p:italic r:id="rId21"/>
      <p:boldItalic r:id="rId22"/>
    </p:embeddedFont>
    <p:embeddedFont>
      <p:font typeface="Spline Sans 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644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80000"/>
            </a:srgbClr>
          </a:solidFill>
          <a:ln/>
        </p:spPr>
      </p:sp>
      <p:pic>
        <p:nvPicPr>
          <p:cNvPr id="6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2521049"/>
            <a:ext cx="6151409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Aurevia Smart Onboarding Platform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306086" y="4001095"/>
            <a:ext cx="676099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Proposal for Intelligent Banking. Better Experiences.</a:t>
            </a:r>
            <a:endParaRPr lang="en-US" sz="1650" dirty="0"/>
          </a:p>
        </p:txBody>
      </p:sp>
      <p:pic>
        <p:nvPicPr>
          <p:cNvPr id="5" name="Picture 4" descr="IBM Completes the Separation of Kyndryl">
            <a:extLst>
              <a:ext uri="{FF2B5EF4-FFF2-40B4-BE49-F238E27FC236}">
                <a16:creationId xmlns:a16="http://schemas.microsoft.com/office/drawing/2014/main" id="{D435E18D-56A4-18F1-A094-40ACF6317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  <p:pic>
        <p:nvPicPr>
          <p:cNvPr id="9" name="Image 0" descr="logo.png">
            <a:extLst>
              <a:ext uri="{FF2B5EF4-FFF2-40B4-BE49-F238E27FC236}">
                <a16:creationId xmlns:a16="http://schemas.microsoft.com/office/drawing/2014/main" id="{862D4FA0-3E70-1E17-33CE-E28D88D50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986" y="551452"/>
            <a:ext cx="4114799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812800"/>
            <a:ext cx="6151409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Key Takeaway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734200" y="1710134"/>
            <a:ext cx="2970833" cy="2566293"/>
          </a:xfrm>
          <a:prstGeom prst="roundRect">
            <a:avLst>
              <a:gd name="adj" fmla="val 12263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9343" y="1945283"/>
            <a:ext cx="250054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69343" y="2362498"/>
            <a:ext cx="2500548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Fragmented systems slow onboarding—and 70% of customers say onboarding shapes whether they stay with a bank.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3914776" y="1710134"/>
            <a:ext cx="2970833" cy="2566293"/>
          </a:xfrm>
          <a:prstGeom prst="roundRect">
            <a:avLst>
              <a:gd name="adj" fmla="val 12263"/>
            </a:avLst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49919" y="1945283"/>
            <a:ext cx="250054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49919" y="2362498"/>
            <a:ext cx="2500548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 AI-enabled Smart Onboarding Platform—built alongside existing systems, no replacement required.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34200" y="4486176"/>
            <a:ext cx="6151409" cy="1559024"/>
          </a:xfrm>
          <a:prstGeom prst="roundRect">
            <a:avLst>
              <a:gd name="adj" fmla="val 20186"/>
            </a:avLst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343" y="4721324"/>
            <a:ext cx="568112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Outcome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9343" y="5138539"/>
            <a:ext cx="5681124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Faster onboarding, stronger compliance, and customers who stay.</a:t>
            </a:r>
            <a:endParaRPr lang="en-US" sz="1650" dirty="0"/>
          </a:p>
        </p:txBody>
      </p:sp>
      <p:pic>
        <p:nvPicPr>
          <p:cNvPr id="14" name="Picture 13" descr="IBM Completes the Separation of Kyndryl">
            <a:extLst>
              <a:ext uri="{FF2B5EF4-FFF2-40B4-BE49-F238E27FC236}">
                <a16:creationId xmlns:a16="http://schemas.microsoft.com/office/drawing/2014/main" id="{BAC48B56-904B-0CEA-B7DD-1896985E1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56" y="794941"/>
            <a:ext cx="6464932" cy="3663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16873" y="1269008"/>
            <a:ext cx="3446872" cy="107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Speed Matters Now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8016873" y="2519363"/>
            <a:ext cx="3446872" cy="148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Every day a new applicant waits is a day a competitor wins that customer. The modern banking customer expects speed—but regulators demand rigor. Aurevia needs both.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4858147"/>
            <a:ext cx="5272849" cy="14047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4272" y="5076627"/>
            <a:ext cx="4734303" cy="268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Competitive Pressure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054272" y="5451277"/>
            <a:ext cx="4734303" cy="296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Slower onboarding directly feeds competitor acquisition.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4646" y="4858147"/>
            <a:ext cx="5272849" cy="14047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04718" y="5076627"/>
            <a:ext cx="4734303" cy="268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Regulatory Reality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504718" y="5451277"/>
            <a:ext cx="4734303" cy="593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KYC and AML controls are non-negotiable—but unnecessary friction is.</a:t>
            </a:r>
            <a:endParaRPr lang="en-US" sz="1500" dirty="0"/>
          </a:p>
        </p:txBody>
      </p:sp>
      <p:pic>
        <p:nvPicPr>
          <p:cNvPr id="16" name="Picture 15" descr="IBM Completes the Separation of Kyndryl">
            <a:extLst>
              <a:ext uri="{FF2B5EF4-FFF2-40B4-BE49-F238E27FC236}">
                <a16:creationId xmlns:a16="http://schemas.microsoft.com/office/drawing/2014/main" id="{473F85AA-BD3E-A2E7-5A6F-865DB1E54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486495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Three Bottlenecks Blocking Growth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2488803"/>
            <a:ext cx="524457" cy="5244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3275509"/>
            <a:ext cx="339954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Fragmented Systems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4200" y="3692723"/>
            <a:ext cx="3399546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Banking, CRM, KYC, and compliance platforms don't communicate. Staff re-key the same data multiple times, creating delays and error risk at every handoff.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5975" y="2488803"/>
            <a:ext cx="524457" cy="5244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95975" y="3275509"/>
            <a:ext cx="339964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Manual Document Checks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95975" y="3692723"/>
            <a:ext cx="3399645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Employees spend hours on repetitive verification. Customers are asked for the same documents twice—eroding trust before the relationship has even begun.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57849" y="2488803"/>
            <a:ext cx="524457" cy="5244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7849" y="3275509"/>
            <a:ext cx="339964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Sequential Compliance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57849" y="3692723"/>
            <a:ext cx="3399645" cy="1343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Low-risk applications wait behind high-risk ones in the same queue. Every applicant pays the price for the complexity of a few.</a:t>
            </a:r>
            <a:endParaRPr lang="en-US" sz="1650" dirty="0"/>
          </a:p>
        </p:txBody>
      </p:sp>
      <p:pic>
        <p:nvPicPr>
          <p:cNvPr id="13" name="Picture 12" descr="IBM Completes the Separation of Kyndryl">
            <a:extLst>
              <a:ext uri="{FF2B5EF4-FFF2-40B4-BE49-F238E27FC236}">
                <a16:creationId xmlns:a16="http://schemas.microsoft.com/office/drawing/2014/main" id="{DFDE37DE-F893-26B6-1CA3-C6A6FF9E4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28848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We Analyzed Aurevia's Onboarding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1631156"/>
            <a:ext cx="10723294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rigorous analysis combined multiple data points and stakeholder perspectives to identify the core challenges within Aurevia's current onboarding process.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2538611"/>
            <a:ext cx="3574365" cy="839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3944" y="3587552"/>
            <a:ext cx="31548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Research &amp; Discovery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43944" y="4004766"/>
            <a:ext cx="3154879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thoroughly reviewed existing workflows, system architecture, customer feedback, compliance requirements, and conducted in-depth staff interviews.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566" y="2538611"/>
            <a:ext cx="3574464" cy="8391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18309" y="3587552"/>
            <a:ext cx="315497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Pattern Identification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18309" y="4004766"/>
            <a:ext cx="3154978" cy="2014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Clear patterns emerged, highlighting widespread data re-entry across systems, persistent manual verification delays, and inefficiencies in queue management.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030" y="2538611"/>
            <a:ext cx="3574365" cy="8391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2773" y="3587552"/>
            <a:ext cx="315487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Root Cause Analysis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092773" y="4004766"/>
            <a:ext cx="3154879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These aren't merely symptoms; they are fundamental issues directly impacting customer experience, compliance accuracy, and operational efficiency.</a:t>
            </a:r>
            <a:endParaRPr lang="en-US" sz="1650" dirty="0"/>
          </a:p>
        </p:txBody>
      </p:sp>
      <p:pic>
        <p:nvPicPr>
          <p:cNvPr id="14" name="Picture 13" descr="IBM Completes the Separation of Kyndryl">
            <a:extLst>
              <a:ext uri="{FF2B5EF4-FFF2-40B4-BE49-F238E27FC236}">
                <a16:creationId xmlns:a16="http://schemas.microsoft.com/office/drawing/2014/main" id="{4EFB7968-CFA8-BA32-D5DA-1A5C576EB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591072"/>
            <a:ext cx="5131366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Real Challenge: Precision, Not Just Speed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4200" y="2809875"/>
            <a:ext cx="5131366" cy="86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goal is not to cut corners—it is to cut the right steps. Aurevia's competitive advantage lies in removing unnecessary manual work </a:t>
            </a:r>
            <a:r>
              <a:rPr lang="en-US" sz="14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without weakening compliance controls</a:t>
            </a: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34200" y="3823593"/>
            <a:ext cx="5131366" cy="1553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Route applications intelligently based on actual risk level—not arbitrary queue position</a:t>
            </a:r>
            <a:endParaRPr lang="en-US" sz="1450" dirty="0"/>
          </a:p>
          <a:p>
            <a:pPr marL="294640" indent="-29464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Keep Aurevia's people where their judgment matters most: exceptions and high-risk cases</a:t>
            </a:r>
            <a:endParaRPr lang="en-US" sz="1450" dirty="0"/>
          </a:p>
          <a:p>
            <a:pPr marL="294640" indent="-294640" algn="l">
              <a:lnSpc>
                <a:spcPct val="127000"/>
              </a:lnSpc>
              <a:buSzPct val="100000"/>
              <a:buChar char="•"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Eliminate friction that adds no compliance value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478" y="1119783"/>
            <a:ext cx="4618220" cy="4618335"/>
          </a:xfrm>
          <a:prstGeom prst="rect">
            <a:avLst/>
          </a:prstGeom>
        </p:spPr>
      </p:pic>
      <p:pic>
        <p:nvPicPr>
          <p:cNvPr id="7" name="Picture 6" descr="IBM Completes the Separation of Kyndryl">
            <a:extLst>
              <a:ext uri="{FF2B5EF4-FFF2-40B4-BE49-F238E27FC236}">
                <a16:creationId xmlns:a16="http://schemas.microsoft.com/office/drawing/2014/main" id="{7BD704F2-74D4-ED53-9627-D85A7D4543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065808"/>
            <a:ext cx="6151409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Our Recommended Approach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00" y="1845171"/>
            <a:ext cx="944043" cy="13156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48101" y="2033984"/>
            <a:ext cx="5037508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 Rip-and-Replace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848101" y="2398117"/>
            <a:ext cx="503750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Platform runs alongside Aurevia's legacy core banking system—original channel stays live throughout.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0" y="3160812"/>
            <a:ext cx="944043" cy="13156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48101" y="3349625"/>
            <a:ext cx="5037508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API &amp; Middleware Layer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1848101" y="3713758"/>
            <a:ext cx="503750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Connects AI tools to existing CRM, KYC, and compliance systems without rebuilding infrastructure.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00" y="4476452"/>
            <a:ext cx="944043" cy="13156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48101" y="4665266"/>
            <a:ext cx="5037508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Human-in-the-Loop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1848101" y="5029398"/>
            <a:ext cx="503750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handles routine work; Aurevia's people stay in control of exceptions and every high-risk decision.</a:t>
            </a:r>
            <a:endParaRPr lang="en-US" sz="1450" dirty="0"/>
          </a:p>
        </p:txBody>
      </p:sp>
      <p:pic>
        <p:nvPicPr>
          <p:cNvPr id="14" name="Picture 13" descr="IBM Completes the Separation of Kyndryl">
            <a:extLst>
              <a:ext uri="{FF2B5EF4-FFF2-40B4-BE49-F238E27FC236}">
                <a16:creationId xmlns:a16="http://schemas.microsoft.com/office/drawing/2014/main" id="{1A0C6854-A037-FA28-A317-0E4814B8F1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76957"/>
            <a:ext cx="1072329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How It Works: Four Core Components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600" y="948432"/>
            <a:ext cx="8292496" cy="5186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959" y="3324111"/>
            <a:ext cx="1709650" cy="509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Legacy Integration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40638" y="5516740"/>
            <a:ext cx="1709651" cy="509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Risk-Based Routing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26795" y="3322997"/>
            <a:ext cx="1709651" cy="509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Identity &amp; Compliance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40638" y="1056830"/>
            <a:ext cx="1709651" cy="509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Document &amp; Customer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4200" y="6187877"/>
            <a:ext cx="11332879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component is additive—layered onto Aurevia's existing infrastructure, not replacing it. The core banking system remains the system of record throughout.</a:t>
            </a:r>
            <a:endParaRPr lang="en-US" sz="750" dirty="0"/>
          </a:p>
        </p:txBody>
      </p:sp>
      <p:pic>
        <p:nvPicPr>
          <p:cNvPr id="10" name="Picture 9" descr="IBM Completes the Separation of Kyndryl">
            <a:extLst>
              <a:ext uri="{FF2B5EF4-FFF2-40B4-BE49-F238E27FC236}">
                <a16:creationId xmlns:a16="http://schemas.microsoft.com/office/drawing/2014/main" id="{2445EEBC-9196-0C40-8CAE-F0382EC58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3193" y="738485"/>
            <a:ext cx="5407783" cy="5380930"/>
          </a:xfrm>
          <a:prstGeom prst="roundRect">
            <a:avLst>
              <a:gd name="adj" fmla="val 9357"/>
            </a:avLst>
          </a:prstGeom>
          <a:solidFill>
            <a:srgbClr val="1B1B27">
              <a:alpha val="7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92936" y="948234"/>
            <a:ext cx="4988296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Why This Approach Wins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792936" y="2323405"/>
            <a:ext cx="4988296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Three distinct advantages over a full system rebuild—faster, safer, and compliance-preserving from day one.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358076" y="974427"/>
            <a:ext cx="471972" cy="471984"/>
          </a:xfrm>
          <a:prstGeom prst="ellipse">
            <a:avLst/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54167" y="1035546"/>
            <a:ext cx="279691" cy="3496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39791" y="1046460"/>
            <a:ext cx="442405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Faster to Deploy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039791" y="1547614"/>
            <a:ext cx="4424053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Months, not years. No need to rebuild core systems or retrain every workflow from scratch.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358076" y="2638723"/>
            <a:ext cx="471972" cy="471984"/>
          </a:xfrm>
          <a:prstGeom prst="ellipse">
            <a:avLst/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4167" y="2699841"/>
            <a:ext cx="279691" cy="3496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039791" y="2710755"/>
            <a:ext cx="442405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Lower Risk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39791" y="3211909"/>
            <a:ext cx="4424053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Aurevia's original onboarding channel stays live as a safety net throughout the entire rollout.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358076" y="4303018"/>
            <a:ext cx="471972" cy="471984"/>
          </a:xfrm>
          <a:prstGeom prst="ellipse">
            <a:avLst/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4167" y="4364137"/>
            <a:ext cx="279691" cy="3496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39791" y="4375051"/>
            <a:ext cx="442405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Compliance Intact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39791" y="4876205"/>
            <a:ext cx="4424053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Existing KYC and AML investments are protected. Controls are strengthened, not weakened.</a:t>
            </a:r>
            <a:endParaRPr lang="en-US" sz="1650" dirty="0"/>
          </a:p>
        </p:txBody>
      </p:sp>
      <p:pic>
        <p:nvPicPr>
          <p:cNvPr id="18" name="Picture 17" descr="IBM Completes the Separation of Kyndryl">
            <a:extLst>
              <a:ext uri="{FF2B5EF4-FFF2-40B4-BE49-F238E27FC236}">
                <a16:creationId xmlns:a16="http://schemas.microsoft.com/office/drawing/2014/main" id="{4B410646-C335-A000-81C3-70F943AC3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013222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Phased Rollout: Test → Measure → Learn → Scale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083148" y="1945481"/>
            <a:ext cx="25399" cy="3899297"/>
          </a:xfrm>
          <a:prstGeom prst="roundRect">
            <a:avLst>
              <a:gd name="adj" fmla="val 50001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299190" y="2156916"/>
            <a:ext cx="597877" cy="25400"/>
          </a:xfrm>
          <a:prstGeom prst="roundRect">
            <a:avLst>
              <a:gd name="adj" fmla="val 49999"/>
            </a:avLst>
          </a:prstGeom>
          <a:solidFill>
            <a:srgbClr val="16FFBB"/>
          </a:solidFill>
          <a:ln/>
        </p:spPr>
      </p:sp>
      <p:sp>
        <p:nvSpPr>
          <p:cNvPr id="5" name="Shape 3"/>
          <p:cNvSpPr/>
          <p:nvPr/>
        </p:nvSpPr>
        <p:spPr>
          <a:xfrm>
            <a:off x="5871668" y="1945481"/>
            <a:ext cx="448358" cy="448370"/>
          </a:xfrm>
          <a:prstGeom prst="ellipse">
            <a:avLst/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62947" y="2003524"/>
            <a:ext cx="26570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34200" y="2013942"/>
            <a:ext cx="436511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1 — Months 1–3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4200" y="2404368"/>
            <a:ext cx="4365119" cy="1243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Validate &amp; Lead.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Establish governance and security. Run a controlled pilot with a small group of staff and customers to prove the model before scaling.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94627" y="3332758"/>
            <a:ext cx="597877" cy="25400"/>
          </a:xfrm>
          <a:prstGeom prst="roundRect">
            <a:avLst>
              <a:gd name="adj" fmla="val 49999"/>
            </a:avLst>
          </a:prstGeom>
          <a:solidFill>
            <a:srgbClr val="29DDDA"/>
          </a:solidFill>
          <a:ln/>
        </p:spPr>
      </p:sp>
      <p:sp>
        <p:nvSpPr>
          <p:cNvPr id="10" name="Shape 8"/>
          <p:cNvSpPr/>
          <p:nvPr/>
        </p:nvSpPr>
        <p:spPr>
          <a:xfrm>
            <a:off x="5871668" y="3121323"/>
            <a:ext cx="448358" cy="448370"/>
          </a:xfrm>
          <a:prstGeom prst="ellipse">
            <a:avLst/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62947" y="3179366"/>
            <a:ext cx="26570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7092376" y="3189784"/>
            <a:ext cx="436511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2 — Months 4–6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92376" y="3580209"/>
            <a:ext cx="4365119" cy="932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Frontline Adoption.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Roll out to all customer-facing staff. Use live analytics to identify friction points and iterate rapidly before broader expansion.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299190" y="4353520"/>
            <a:ext cx="597877" cy="25400"/>
          </a:xfrm>
          <a:prstGeom prst="roundRect">
            <a:avLst>
              <a:gd name="adj" fmla="val 49999"/>
            </a:avLst>
          </a:prstGeom>
          <a:solidFill>
            <a:srgbClr val="37A7E7"/>
          </a:solidFill>
          <a:ln/>
        </p:spPr>
      </p:sp>
      <p:sp>
        <p:nvSpPr>
          <p:cNvPr id="15" name="Shape 13"/>
          <p:cNvSpPr/>
          <p:nvPr/>
        </p:nvSpPr>
        <p:spPr>
          <a:xfrm>
            <a:off x="5871668" y="4142085"/>
            <a:ext cx="448358" cy="448370"/>
          </a:xfrm>
          <a:prstGeom prst="ellipse">
            <a:avLst/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2947" y="4200128"/>
            <a:ext cx="265701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734200" y="4210546"/>
            <a:ext cx="436511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3 — Month 7+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4200" y="4600972"/>
            <a:ext cx="4365119" cy="1243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Scale &amp; Embed.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Full expansion once pilot results confirm targets for customer satisfaction, compliance accuracy, and system reliability are met.</a:t>
            </a:r>
            <a:endParaRPr lang="en-US" sz="1550" dirty="0"/>
          </a:p>
        </p:txBody>
      </p:sp>
      <p:pic>
        <p:nvPicPr>
          <p:cNvPr id="20" name="Picture 19" descr="IBM Completes the Separation of Kyndryl">
            <a:extLst>
              <a:ext uri="{FF2B5EF4-FFF2-40B4-BE49-F238E27FC236}">
                <a16:creationId xmlns:a16="http://schemas.microsoft.com/office/drawing/2014/main" id="{060CB710-A9A6-5911-CDB1-FD91BC57B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780752"/>
            <a:ext cx="6151409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Success Looks Like This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734200" y="1503363"/>
            <a:ext cx="2999903" cy="2475012"/>
          </a:xfrm>
          <a:prstGeom prst="roundRect">
            <a:avLst>
              <a:gd name="adj" fmla="val 10808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1542" y="1700709"/>
            <a:ext cx="534974" cy="534987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679" y="1847751"/>
            <a:ext cx="240699" cy="2407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1542" y="2387203"/>
            <a:ext cx="260522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Customer Experience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31542" y="2725738"/>
            <a:ext cx="2605221" cy="105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Faster onboarding time. Measurably lower application drop-off rate. Customers who arrive—and stay.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885607" y="1503363"/>
            <a:ext cx="3000002" cy="2475012"/>
          </a:xfrm>
          <a:prstGeom prst="roundRect">
            <a:avLst>
              <a:gd name="adj" fmla="val 10808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082948" y="1700709"/>
            <a:ext cx="534974" cy="534987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30086" y="1847751"/>
            <a:ext cx="240699" cy="240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82948" y="2387203"/>
            <a:ext cx="26053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Compliance &amp; Risk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4082948" y="2725738"/>
            <a:ext cx="2605320" cy="105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Higher verification accuracy. Stronger fraud detection. Audit trails that give regulators confidence.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34200" y="4129881"/>
            <a:ext cx="6151409" cy="1947366"/>
          </a:xfrm>
          <a:prstGeom prst="roundRect">
            <a:avLst>
              <a:gd name="adj" fmla="val 13736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31542" y="4327227"/>
            <a:ext cx="534974" cy="534987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679" y="4474270"/>
            <a:ext cx="240699" cy="24070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1542" y="5013722"/>
            <a:ext cx="575672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Operations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931542" y="5352256"/>
            <a:ext cx="5756726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Reduced manual workload for staff. Faster adoption through targeted, role-based training from day one.</a:t>
            </a:r>
            <a:endParaRPr lang="en-US" sz="1400" dirty="0"/>
          </a:p>
        </p:txBody>
      </p:sp>
      <p:pic>
        <p:nvPicPr>
          <p:cNvPr id="20" name="Picture 19" descr="IBM Completes the Separation of Kyndryl">
            <a:extLst>
              <a:ext uri="{FF2B5EF4-FFF2-40B4-BE49-F238E27FC236}">
                <a16:creationId xmlns:a16="http://schemas.microsoft.com/office/drawing/2014/main" id="{0D27CE35-2FAC-5A44-3702-6F2F9FD05C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78346"/>
            <a:ext cx="10723294" cy="519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Managing Key Risks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34200" y="1430139"/>
            <a:ext cx="10723294" cy="565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intelligent onboarding platform is designed with robust safeguards to address potential challenges across data quality, integration, adoption, and compliance.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2182416"/>
            <a:ext cx="467110" cy="4671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200" y="2857500"/>
            <a:ext cx="525766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4200" y="3216870"/>
            <a:ext cx="5257668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Validation checks and fallback procedures ensure accuracy, countering the "garbage in = garbage out" principle with built-in safeguards.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826" y="2182416"/>
            <a:ext cx="467110" cy="4671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826" y="2857500"/>
            <a:ext cx="525766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Integration Failures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199826" y="3216870"/>
            <a:ext cx="5257668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phased approach with the original channel as a safety net means that if something breaks, Aurevia keeps operating without interruption.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4397375"/>
            <a:ext cx="467110" cy="46712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4200" y="5072459"/>
            <a:ext cx="525766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Staff Resistance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34200" y="5431830"/>
            <a:ext cx="5257668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Role-based training, starting with senior managers who set the tone, ensures change management is built in from day one for smooth adoption.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826" y="4397375"/>
            <a:ext cx="467110" cy="46712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9826" y="5072459"/>
            <a:ext cx="525766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False Positives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199826" y="5431830"/>
            <a:ext cx="5257668" cy="847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Threshold tuning and human review prevent over-flagging, embodying the principle that AI flags, but humans decide—compliance stays in control.</a:t>
            </a:r>
            <a:endParaRPr lang="en-US" sz="1450" dirty="0"/>
          </a:p>
        </p:txBody>
      </p:sp>
      <p:pic>
        <p:nvPicPr>
          <p:cNvPr id="17" name="Picture 16" descr="IBM Completes the Separation of Kyndryl">
            <a:extLst>
              <a:ext uri="{FF2B5EF4-FFF2-40B4-BE49-F238E27FC236}">
                <a16:creationId xmlns:a16="http://schemas.microsoft.com/office/drawing/2014/main" id="{2A5CF8FD-90A5-6326-FFFB-7A01C2D66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648619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Next Steps: From Proposal to Pilot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2545953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4200" y="2877046"/>
            <a:ext cx="5256776" cy="254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5" name="Text 3"/>
          <p:cNvSpPr/>
          <p:nvPr/>
        </p:nvSpPr>
        <p:spPr>
          <a:xfrm>
            <a:off x="734200" y="3032720"/>
            <a:ext cx="525677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Secure leadership approval and confirm data-sharing agreements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00719" y="2545953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200719" y="2877046"/>
            <a:ext cx="5256776" cy="254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8" name="Text 6"/>
          <p:cNvSpPr/>
          <p:nvPr/>
        </p:nvSpPr>
        <p:spPr>
          <a:xfrm>
            <a:off x="6200719" y="3032720"/>
            <a:ext cx="525677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Set pilot baselines for onboarding time, drop-off rate, and compliance accuracy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4200" y="3982541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34200" y="4313634"/>
            <a:ext cx="5256776" cy="2540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1" name="Text 9"/>
          <p:cNvSpPr/>
          <p:nvPr/>
        </p:nvSpPr>
        <p:spPr>
          <a:xfrm>
            <a:off x="734200" y="4469309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Launch Phase 1: Validate &amp; Lead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00719" y="3982541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200719" y="4313634"/>
            <a:ext cx="5256776" cy="2540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4" name="Text 12"/>
          <p:cNvSpPr/>
          <p:nvPr/>
        </p:nvSpPr>
        <p:spPr>
          <a:xfrm>
            <a:off x="6200719" y="4469309"/>
            <a:ext cx="525677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Measure results, learn from pilot, improve, then scale</a:t>
            </a:r>
            <a:endParaRPr lang="en-US" sz="1800" dirty="0"/>
          </a:p>
        </p:txBody>
      </p:sp>
      <p:pic>
        <p:nvPicPr>
          <p:cNvPr id="16" name="Picture 15" descr="IBM Completes the Separation of Kyndryl">
            <a:extLst>
              <a:ext uri="{FF2B5EF4-FFF2-40B4-BE49-F238E27FC236}">
                <a16:creationId xmlns:a16="http://schemas.microsoft.com/office/drawing/2014/main" id="{6C2BFA90-4A03-D7C0-ED06-6752D87B3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9064" y="6414894"/>
            <a:ext cx="1172936" cy="4431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645920"/>
            <a:ext cx="3840480" cy="3840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make Aurevia onboarding faster — without ever compromising trust.</a:t>
            </a:r>
            <a:endParaRPr lang="en-US" sz="1700" dirty="0"/>
          </a:p>
        </p:txBody>
      </p:sp>
      <p:pic>
        <p:nvPicPr>
          <p:cNvPr id="6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886200"/>
            <a:ext cx="2286000" cy="11521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Consulting Micro-Internship — Final Proposal Deck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942</Words>
  <Application>Microsoft Office PowerPoint</Application>
  <PresentationFormat>Widescreen</PresentationFormat>
  <Paragraphs>112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Barlow</vt:lpstr>
      <vt:lpstr>Cambria</vt:lpstr>
      <vt:lpstr>Spline Sans Bold</vt:lpstr>
      <vt:lpstr>Arial</vt:lpstr>
      <vt:lpstr>Barlow Bold</vt:lpstr>
      <vt:lpstr>Calibri</vt:lpstr>
      <vt:lpstr>Spline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Vishvjeet Thakur</cp:lastModifiedBy>
  <cp:revision>3</cp:revision>
  <dcterms:created xsi:type="dcterms:W3CDTF">2026-09-07T18:04:01Z</dcterms:created>
  <dcterms:modified xsi:type="dcterms:W3CDTF">2026-09-08T07:15:23Z</dcterms:modified>
</cp:coreProperties>
</file>